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21945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YOLO11 架構解析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400" b="0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五大模組　—　作用、數學與銜接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160520"/>
            <a:ext cx="1051560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依據 </a:t>
            </a:r>
            <a:r>
              <a:rPr sz="1300" b="0" i="0">
                <a:solidFill>
                  <a:srgbClr val="9FB3C8"/>
                </a:solidFill>
                <a:latin typeface="Consolas"/>
                <a:ea typeface="Consolas"/>
                <a:cs typeface="Consolas"/>
              </a:rPr>
              <a:t>ultralytics_yolo11/cfg/models/11/yolo11.yaml</a:t>
            </a: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　·　全模型 24 層（0–23）：Backbone → Neck →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C3k2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SPPF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C2PSA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Detect+DFL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五大模組住在網路的哪裡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B7B"/>
                </a:solidFill>
                <a:latin typeface="Consolas"/>
                <a:ea typeface="Consolas"/>
                <a:cs typeface="Consolas"/>
              </a:rPr>
              <a:t>輸入 640×640×3</a:t>
            </a: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　逐段往右傳遞，最後輸出偵測框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Backbone　主幹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層 0–10　抽特徵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06040"/>
            <a:ext cx="3291840" cy="21488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Conv ×7　stride-2 下採樣 P1→P5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C3k2 ×5　主力特徵抽取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SPPF　多尺度感受野（層 9）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C2PSA　全域注意力（層 10）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6002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Neck　頸部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層 11–22　跨尺度融合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606040"/>
            <a:ext cx="3291840" cy="21488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FPN 上採樣：語意往高解析度傳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PAN 下採樣：定位往深層傳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Upsample + Concat + C3k2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產出 P3 / P4 / P5 三尺度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215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Head　偵測頭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層 23　預測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606040"/>
            <a:ext cx="3291840" cy="21488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Detect　解耦雙分支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DFL　分佈式框回歸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三尺度各自回歸 + 分類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→ NMS → 最終結果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1874519"/>
            <a:ext cx="640080" cy="502920"/>
          </a:xfrm>
          <a:prstGeom prst="chevron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7909560" y="1874519"/>
            <a:ext cx="640080" cy="502920"/>
          </a:xfrm>
          <a:prstGeom prst="chevron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1064240" cy="411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解析度金字塔：下採樣換語意，不同尺度分工不同大小的物件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46304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15584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144768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73952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486400"/>
            <a:ext cx="146304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stride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15584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6144768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473952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5486400"/>
            <a:ext cx="182880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特徵圖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5815584"/>
            <a:ext cx="182880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80×80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6144768"/>
            <a:ext cx="1828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40×40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6473952"/>
            <a:ext cx="182880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20×20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5486400"/>
            <a:ext cx="201168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每格原圖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5815584"/>
            <a:ext cx="2011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8×8 px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6144768"/>
            <a:ext cx="2011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16×16 px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6473952"/>
            <a:ext cx="2011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32×32 px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5486400"/>
            <a:ext cx="429768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負責物件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815584"/>
            <a:ext cx="4297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小物件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6144768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中物件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6473952"/>
            <a:ext cx="4297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大物件 / 全圖語意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Conv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卷積 + 批次正規化 + SiLU，全網最底層積木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conv.py:41 · 層 0,1,3,5,7…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結構：Conv2d → BatchNorm → SiLU 三合一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SiLU 平滑非單調，負區仍有梯度，不易死神經元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bias=False：偏置交給 BN 的平移項 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用 stride-2 卷積取代池化下採樣，下採樣也能學特徵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部署時 BN 可融合進卷積權重，省一次運算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 = SiLU(BN(W ∗ x))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0" i="0">
                <a:solidFill>
                  <a:srgbClr val="BFE9E0"/>
                </a:solidFill>
                <a:latin typeface="Consolas"/>
                <a:ea typeface="Consolas"/>
                <a:cs typeface="Consolas"/>
              </a:rPr>
              <a:t>SiLU(z) = z·σ(z) = z / (1 + e^(−z))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── 推論時融合 BN 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W' = W · γ / √(σ² + ε)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b' = β − μγ / √(σ² + ε)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卷積、正規化、激活綁成一個可融合單元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C3k2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CSP 特徵塊，YOLO11 主力（取代 v8 的 C2f）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block.py:1074 · 層 2,4,6,8…22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輸入經 cv1 切兩半：一半直通、一半逐級過 Bottleneck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所有中間輸出全部串接，再用 cv2 融合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CSP 只算一半通道 → 省約一半算力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每個中間輸出直連 cv2，多條梯度路徑（類 DenseNet）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c3k 開關：淺層用單一 Bottleneck，深層換巢狀 C3k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 = cv2( cat[ y0, y1, B(y1), B²(y1), … ] 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FE9E0"/>
                </a:solidFill>
                <a:latin typeface="Microsoft JhengHei"/>
                <a:ea typeface="Microsoft JhengHei"/>
                <a:cs typeface="Microsoft JhengHei"/>
              </a:rPr>
              <a:t>Bottleneck（殘差）：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 = x + cv2(cv1(x))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∂y/∂x = I + ∂F/∂x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永遠有一條係數為 1 的梯度高速公路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e=0.5（淺層 0.25）內部再壓通道；vs C2f 的 e=1.0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SPPF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空間金字塔池化（快速版），補大感受野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block.py:213 · 層 9（P5 末端）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用連續三次 5×5 MaxPool，等效取得多種感受野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四路（含原始）串接後用 1×1 融合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MaxPool 無參數、平移不變，挑出區域最強響應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放在 20×20 的 P5 末端，擴大感受野最便宜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為頸部準備好要往各尺度分發的「全域摘要」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FE9E0"/>
                </a:solidFill>
                <a:latin typeface="Microsoft JhengHei"/>
                <a:ea typeface="Microsoft JhengHei"/>
                <a:cs typeface="Microsoft JhengHei"/>
              </a:rPr>
              <a:t>max 池化可疊加：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5×5 → 9×9 → 13×13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四路感受野 = { 1, 5, 9, 13 }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≡ SPP(k=5,9,13)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但只重複算 5×5，省掉大視窗池化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C2PSA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位置敏感注意力，YOLO11 新增的全域建模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block.py:1576 · 層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Transformer 配方：Attention + FFN + 殘差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用卷積/BN 取代 LayerNorm，包進 CSP 殼省算力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讓特徵圖上任兩個位置可直接交換資訊（卷積只看局部）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只放最小的 P5（N=400），全域建模才買得起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成果再透過頸部傳播到其他尺度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A(i,j) = softmax_j( q_i·k_j / √d_k 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out = V·A^T + DWConv_3×3(V)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                       ↑ 位置編碼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key_dim = head_dim × 0.5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Q/K 維度減半省成本；÷√d_k 防 softmax 飽和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注意力成本 O(N²)：放 P3(N=6400) 太貴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Detect + DFL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anchor-free 解耦偵測頭 + 分佈式框回歸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head.py:26 · block.py:63 · 層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每尺度兩條分支：cv2 回歸框、cv3 分類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anchor-free：每格中心當點，直接預測到四邊距離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分類分支用 DWConv 深度可分離卷積 → 參數更少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DFL：把每邊距離當 16-bin 機率分佈，取期望值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分佈能表達邊界不確定性，比 L1 單點回歸更穩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距離取期望：E[d] = Σ i · p_i ,  i=0..15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固定權重 = arange(16)，不訓練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框：dist2bbox(E[d]) × stride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類別：sigmoid（多標籤、無背景類）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FE9E0"/>
                </a:solidFill>
                <a:latin typeface="Consolas"/>
                <a:ea typeface="Consolas"/>
                <a:cs typeface="Consolas"/>
              </a:rPr>
              <a:t>尺度分工　stride 8 / 16 / 32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小 / 中 / 大物件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五大模組如何互相搭配銜接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36192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1371600"/>
            <a:ext cx="102412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① Backbone 抽特徵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 逐層 stride-2 下採樣；C3k2 在每個尺度抽特徵；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SPPF 在 P5 補大感受野；C2PSA 補一次全域上下文。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953512"/>
            <a:ext cx="548640" cy="548640"/>
          </a:xfrm>
          <a:prstGeom prst="ellipse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788920"/>
            <a:ext cx="102412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② Neck 雙向融合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FPN 上採樣把深層「語意」往高解析度傳；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PAN 下採樣把淺層「定位」往深層傳；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交會處用 Concat + C3k2 真正融合。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4370831"/>
            <a:ext cx="548640" cy="548640"/>
          </a:xfrm>
          <a:prstGeom prst="ellipse">
            <a:avLst/>
          </a:prstGeom>
          <a:solidFill>
            <a:srgbClr val="215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4206240"/>
            <a:ext cx="102412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15C77"/>
                </a:solidFill>
                <a:latin typeface="Microsoft JhengHei"/>
                <a:ea typeface="Microsoft JhengHei"/>
                <a:cs typeface="Microsoft JhengHei"/>
              </a:rPr>
              <a:t>③ Head 三尺度預測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P3 / P4 / P5 各自送進 Detect；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cv2+DFL 解碼框、cv3+sigmoid 分類；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最後彙整做 NMS。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核心一句話：</a:t>
            </a:r>
            <a:r>
              <a:rPr sz="15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下採樣換取語意與感受野、犧牲定位；頸部再用雙向融合，把語意與定位重新補回每個尺度。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資料流：</a:t>
            </a:r>
            <a:r>
              <a:rPr sz="1300" b="0" i="0">
                <a:solidFill>
                  <a:srgbClr val="5A6B7B"/>
                </a:solidFill>
                <a:latin typeface="Consolas"/>
                <a:ea typeface="Consolas"/>
                <a:cs typeface="Consolas"/>
              </a:rPr>
              <a:t>Conv/C3k2 → SPPF → C2PSA → FPN↑ → PAN↓ → Detect+DFL → NMS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YOLO11 特色（對比 v8）與程式模組位置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210312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面向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325880"/>
            <a:ext cx="274320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YOLOv8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59" y="1325880"/>
            <a:ext cx="365760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YOLO11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2560" y="1325880"/>
            <a:ext cx="260604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程式位置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92807"/>
            <a:ext cx="210312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主力特徵塊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892807"/>
            <a:ext cx="27432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C2f（e=1.0）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59" y="1892807"/>
            <a:ext cx="36576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C3k2（e=0.5 + c3k 開關）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892807"/>
            <a:ext cx="260604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block.py:1074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59736"/>
            <a:ext cx="21031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全域建模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459736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59" y="2459736"/>
            <a:ext cx="3657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新增 C2PSA 注意力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2459736"/>
            <a:ext cx="26060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block.py:1576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26663"/>
            <a:ext cx="210312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分類分支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026663"/>
            <a:ext cx="27432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標準 Conv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3026663"/>
            <a:ext cx="36576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DWConv 深度可分離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3026663"/>
            <a:ext cx="260604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head.py:100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93591"/>
            <a:ext cx="21031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框回歸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3593591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DFL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59" y="3593591"/>
            <a:ext cx="3657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DFL（沿用，配 anchor-free）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3593591"/>
            <a:ext cx="26060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block.py:63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210312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基礎卷積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4160520"/>
            <a:ext cx="27432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Conv（BN+SiLU）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59" y="4160520"/>
            <a:ext cx="36576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Conv（相同）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4160520"/>
            <a:ext cx="260604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conv.py:41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9204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三大差異一句話總結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C2f → C3k2：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更深、更省算力（CSP 分流 + 殘差 + c3k 控深度）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新增 C2PSA：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在 P5 補一次全域注意力，卷積看不到的長距關係交給它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分類用 DWConv：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一層 3×3 從 O(c²·9) 降到 O(c·9 + c²)，這是參數更少的主因之一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設計哲學統整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0876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算力花在刀口上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高解析度層 e=0.25 瘦身、注意力只放 20×20、分類分支用 DWConv</a:t>
            </a:r>
          </a:p>
        </p:txBody>
      </p:sp>
      <p:sp>
        <p:nvSpPr>
          <p:cNvPr id="5" name="Oval 4"/>
          <p:cNvSpPr/>
          <p:nvPr/>
        </p:nvSpPr>
        <p:spPr>
          <a:xfrm>
            <a:off x="6263640" y="155448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50876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梯度路徑越多越好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CSP 分流、殘差、FPN/PAN 跨層直連，全在給梯度修高速公路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79476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74904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預測不確定性而非單點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DFL 用 16-bin 分佈取代直接回歸，邊界模糊時更穩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379476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74904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一份結構、五種規模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depth / width / max_channels 三倍率複合縮放，n→x 共用同一 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相較 v8：</a:t>
            </a: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C2f→C3k2（更深更省）、新增 C2PSA（全域注意力）、分類分支輕量化（DWConv）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