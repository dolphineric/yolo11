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21945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YOLO11 架構解析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400" b="0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五大模組　—　作用、數學與銜接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4160520"/>
            <a:ext cx="1051560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依據 </a:t>
            </a:r>
            <a:r>
              <a:rPr sz="1300" b="0" i="0">
                <a:solidFill>
                  <a:srgbClr val="9FB3C8"/>
                </a:solidFill>
                <a:latin typeface="Consolas"/>
                <a:ea typeface="Consolas"/>
                <a:cs typeface="Consolas"/>
              </a:rPr>
              <a:t>ultralytics_yolo11/cfg/models/11/yolo11.yaml</a:t>
            </a: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　·　全模型 24 層（0–23）：Backbone → Neck → Head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5029200"/>
            <a:ext cx="2011680" cy="5029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Conv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5029200"/>
            <a:ext cx="2011680" cy="50292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0" i="0">
                <a:solidFill>
                  <a:srgbClr val="2EC4B6"/>
                </a:solidFill>
                <a:latin typeface="Consolas"/>
                <a:ea typeface="Consolas"/>
                <a:cs typeface="Consolas"/>
              </a:rPr>
              <a:t>C3k2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0" y="5029200"/>
            <a:ext cx="2011680" cy="5029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SPPF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5029200"/>
            <a:ext cx="2011680" cy="50292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0" i="0">
                <a:solidFill>
                  <a:srgbClr val="2EC4B6"/>
                </a:solidFill>
                <a:latin typeface="Consolas"/>
                <a:ea typeface="Consolas"/>
                <a:cs typeface="Consolas"/>
              </a:rPr>
              <a:t>C2PSA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29800" y="5029200"/>
            <a:ext cx="2011680" cy="5029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Detect+DFL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五大模組住在網路的哪裡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51560"/>
            <a:ext cx="1097280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B7B"/>
                </a:solidFill>
                <a:latin typeface="Consolas"/>
                <a:ea typeface="Consolas"/>
                <a:cs typeface="Consolas"/>
              </a:rPr>
              <a:t>輸入 640×640×3</a:t>
            </a:r>
            <a:r>
              <a:rPr sz="1300" b="0" i="0">
                <a:solidFill>
                  <a:srgbClr val="5A6B7B"/>
                </a:solidFill>
                <a:latin typeface="Microsoft JhengHei"/>
                <a:ea typeface="Microsoft JhengHei"/>
                <a:cs typeface="Microsoft JhengHei"/>
              </a:rPr>
              <a:t>　逐段往右傳遞，最後輸出偵測框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291840" cy="86868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Backbone　主幹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6E6F2"/>
                </a:solidFill>
                <a:latin typeface="Microsoft JhengHei"/>
                <a:ea typeface="Microsoft JhengHei"/>
                <a:cs typeface="Microsoft JhengHei"/>
              </a:rPr>
              <a:t>層 0–10　抽特徵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06040"/>
            <a:ext cx="3291840" cy="21488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Conv ×7　stride-2 下採樣 P1→P5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C3k2 ×5　主力特徵抽取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SPPF　多尺度感受野（層 9）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C2PSA　全域注意力（層 10）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600200"/>
            <a:ext cx="3291840" cy="868680"/>
          </a:xfrm>
          <a:prstGeom prst="roundRect">
            <a:avLst>
              <a:gd name="adj" fmla="val 6000"/>
            </a:avLst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Neck　頸部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6E6F2"/>
                </a:solidFill>
                <a:latin typeface="Microsoft JhengHei"/>
                <a:ea typeface="Microsoft JhengHei"/>
                <a:cs typeface="Microsoft JhengHei"/>
              </a:rPr>
              <a:t>層 11–22　跨尺度融合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606040"/>
            <a:ext cx="3291840" cy="21488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FPN 上採樣：語意往高解析度傳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PAN 下採樣：定位往深層傳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Upsample + Concat + C3k2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產出 P3 / P4 / P5 三尺度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600200"/>
            <a:ext cx="3291840" cy="868680"/>
          </a:xfrm>
          <a:prstGeom prst="roundRect">
            <a:avLst>
              <a:gd name="adj" fmla="val 6000"/>
            </a:avLst>
          </a:prstGeom>
          <a:solidFill>
            <a:srgbClr val="215C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Head　偵測頭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6E6F2"/>
                </a:solidFill>
                <a:latin typeface="Microsoft JhengHei"/>
                <a:ea typeface="Microsoft JhengHei"/>
                <a:cs typeface="Microsoft JhengHei"/>
              </a:rPr>
              <a:t>層 23　預測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606040"/>
            <a:ext cx="3291840" cy="21488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Detect　解耦雙分支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DFL　分佈式框回歸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三尺度各自回歸 + 分類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 → NMS → 最終結果</a:t>
            </a:r>
          </a:p>
        </p:txBody>
      </p:sp>
      <p:sp>
        <p:nvSpPr>
          <p:cNvPr id="10" name="Chevron 9"/>
          <p:cNvSpPr/>
          <p:nvPr/>
        </p:nvSpPr>
        <p:spPr>
          <a:xfrm>
            <a:off x="3886200" y="1874519"/>
            <a:ext cx="640080" cy="502920"/>
          </a:xfrm>
          <a:prstGeom prst="chevron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7909560" y="1874519"/>
            <a:ext cx="640080" cy="502920"/>
          </a:xfrm>
          <a:prstGeom prst="chevron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029200"/>
            <a:ext cx="11064240" cy="4114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解析度金字塔：下採樣換語意，不同尺度分工不同大小的物件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486400"/>
            <a:ext cx="1463040" cy="329184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層級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815584"/>
            <a:ext cx="146304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P3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144768"/>
            <a:ext cx="14630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73952"/>
            <a:ext cx="146304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P5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5486400"/>
            <a:ext cx="1463040" cy="329184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stride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5815584"/>
            <a:ext cx="146304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6144768"/>
            <a:ext cx="14630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6473952"/>
            <a:ext cx="146304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5486400"/>
            <a:ext cx="1828800" cy="329184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特徵圖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5815584"/>
            <a:ext cx="182880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80×80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6144768"/>
            <a:ext cx="18288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40×40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0" y="6473952"/>
            <a:ext cx="182880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20×20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5486400"/>
            <a:ext cx="2011680" cy="329184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每格原圖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0" y="5815584"/>
            <a:ext cx="201168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8×8 px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0" y="6144768"/>
            <a:ext cx="2011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16×16 px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6473952"/>
            <a:ext cx="201168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32×32 px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5486400"/>
            <a:ext cx="4297680" cy="329184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負責物件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5815584"/>
            <a:ext cx="429768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小物件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0" y="6144768"/>
            <a:ext cx="429768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中物件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6473952"/>
            <a:ext cx="4297680" cy="329184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大物件 / 全圖語意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731520" cy="7315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411480"/>
            <a:ext cx="6035040" cy="8686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Conv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600" b="0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卷積 + 批次正規化 + SiLU，全網最底層積木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26679" y="566928"/>
            <a:ext cx="388620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conv.py:41 · 層 0,1,3,5,7…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64592" cy="44805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507492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作用 — 它在做什麼、為什麼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5120640" cy="41148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結構：Conv2d → BatchNorm → SiLU 三合一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SiLU 平滑非單調，負區仍有梯度，不易死神經元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bias=False：偏置交給 BN 的平移項 β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用 stride-2 卷積取代池化下採樣，下採樣也能學特徵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部署時 BN 可融合進卷積權重，省一次運算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數學重點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y = SiLU(BN(W ∗ x))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0" i="0">
                <a:solidFill>
                  <a:srgbClr val="BFE9E0"/>
                </a:solidFill>
                <a:latin typeface="Consolas"/>
                <a:ea typeface="Consolas"/>
                <a:cs typeface="Consolas"/>
              </a:rPr>
              <a:t>SiLU(z) = z·σ(z) = z / (1 + e^(−z))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2EC4B6"/>
                </a:solidFill>
                <a:latin typeface="Consolas"/>
                <a:ea typeface="Consolas"/>
                <a:cs typeface="Consolas"/>
              </a:rPr>
              <a:t>── 推論時融合 BN ──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W' = W · γ / √(σ² + ε)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b' = β − μγ / √(σ² + ε)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→ 卷積、正規化、激活綁成一個可融合單元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731520" cy="7315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411480"/>
            <a:ext cx="6035040" cy="8686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C3k2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600" b="0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CSP 特徵塊，YOLO11 主力（取代 v8 的 C2f）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26679" y="566928"/>
            <a:ext cx="388620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block.py:1074 · 層 2,4,6,8…22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64592" cy="44805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507492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作用 — 它在做什麼、為什麼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5120640" cy="41148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輸入經 cv1 切兩半：一半直通、一半逐級過 Bottleneck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所有中間輸出全部串接，再用 cv2 融合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CSP 只算一半通道 → 省約一半算力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每個中間輸出直連 cv2，多條梯度路徑（類 DenseNet）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c3k 開關：淺層用單一 Bottleneck，深層換巢狀 C3k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數學重點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y = cv2( cat[ y0, y1, B(y1), B²(y1), … ] 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BFE9E0"/>
                </a:solidFill>
                <a:latin typeface="Microsoft JhengHei"/>
                <a:ea typeface="Microsoft JhengHei"/>
                <a:cs typeface="Microsoft JhengHei"/>
              </a:rPr>
              <a:t>Bottleneck（殘差）：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y = x + cv2(cv1(x))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∂y/∂x = I + ∂F/∂x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→ 永遠有一條係數為 1 的梯度高速公路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e=0.5（淺層 0.25）內部再壓通道；vs C2f 的 e=1.0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731520" cy="7315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411480"/>
            <a:ext cx="6035040" cy="8686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SPPF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600" b="0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空間金字塔池化（快速版），補大感受野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26679" y="566928"/>
            <a:ext cx="388620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block.py:213 · 層 9（P5 末端）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64592" cy="44805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507492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作用 — 它在做什麼、為什麼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5120640" cy="41148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用連續三次 5×5 MaxPool，等效取得多種感受野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四路（含原始）串接後用 1×1 融合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MaxPool 無參數、平移不變，挑出區域最強響應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放在 20×20 的 P5 末端，擴大感受野最便宜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為頸部準備好要往各尺度分發的「全域摘要」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數學重點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BFE9E0"/>
                </a:solidFill>
                <a:latin typeface="Microsoft JhengHei"/>
                <a:ea typeface="Microsoft JhengHei"/>
                <a:cs typeface="Microsoft JhengHei"/>
              </a:rPr>
              <a:t>max 池化可疊加：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5×5 → 9×9 → 13×13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四路感受野 = { 1, 5, 9, 13 }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≡ SPP(k=5,9,13)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但只重複算 5×5，省掉大視窗池化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731520" cy="7315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411480"/>
            <a:ext cx="6035040" cy="8686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C2PSA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600" b="0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位置敏感注意力，YOLO11 新增的全域建模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26679" y="566928"/>
            <a:ext cx="388620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block.py:1576 · 層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64592" cy="44805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507492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作用 — 它在做什麼、為什麼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5120640" cy="41148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Transformer 配方：Attention + FFN + 殘差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用卷積/BN 取代 LayerNorm，包進 CSP 殼省算力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讓特徵圖上任兩個位置可直接交換資訊（卷積只看局部）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只放最小的 P5（N=400），全域建模才買得起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成果再透過頸部傳播到其他尺度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數學重點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A(i,j) = softmax_j( q_i·k_j / √d_k 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out = V·A^T + DWConv_3×3(V)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2EC4B6"/>
                </a:solidFill>
                <a:latin typeface="Consolas"/>
                <a:ea typeface="Consolas"/>
                <a:cs typeface="Consolas"/>
              </a:rPr>
              <a:t>                       ↑ 位置編碼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key_dim = head_dim × 0.5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→ Q/K 維度減半省成本；÷√d_k 防 softmax 飽和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注意力成本 O(N²)：放 P3(N=6400) 太貴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57200"/>
            <a:ext cx="731520" cy="73152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411480"/>
            <a:ext cx="6035040" cy="8686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Detect + DFL</a:t>
            </a:r>
          </a:p>
          <a:p>
            <a:pPr algn="l">
              <a:spcBef>
                <a:spcPts val="200"/>
              </a:spcBef>
              <a:spcAft>
                <a:spcPts val="400"/>
              </a:spcAft>
            </a:pPr>
            <a:r>
              <a:rPr sz="1600" b="0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anchor-free 解耦偵測頭 + 分佈式框回歸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26679" y="566928"/>
            <a:ext cx="388620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head.py:26 · block.py:63 · 層 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64592" cy="44805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507492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作用 — 它在做什麼、為什麼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5120640" cy="41148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每尺度兩條分支：cv2 回歸框、cv3 分類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anchor-free：每格中心當點，直接預測到四邊距離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分類分支用 DWConv 深度可分離卷積 → 參數更少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DFL：把每邊距離當 16-bin 機率分佈，取期望值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分佈能表達邊界不確定性，比 L1 單點回歸更穩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13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數學重點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距離取期望：E[d] = Σ i · p_i ,  i=0..15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固定權重 = arange(16)，不訓練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框：dist2bbox(E[d]) × stride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類別：sigmoid（多標籤、無背景類）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BFE9E0"/>
                </a:solidFill>
                <a:latin typeface="Consolas"/>
                <a:ea typeface="Consolas"/>
                <a:cs typeface="Consolas"/>
              </a:rPr>
              <a:t>尺度分工　stride 8 / 16 / 32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→ 小 / 中 / 大物件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五大模組如何互相搭配銜接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536192"/>
            <a:ext cx="548640" cy="54864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5880" y="1371600"/>
            <a:ext cx="10241280" cy="12344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① Backbone 抽特徵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Conv 逐層 stride-2 下採樣；C3k2 在每個尺度抽特徵；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SPPF 在 P5 補大感受野；C2PSA 補一次全域上下文。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953512"/>
            <a:ext cx="548640" cy="548640"/>
          </a:xfrm>
          <a:prstGeom prst="ellipse">
            <a:avLst/>
          </a:prstGeom>
          <a:solidFill>
            <a:srgbClr val="2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2788920"/>
            <a:ext cx="10241280" cy="12344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② Neck 雙向融合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FPN 上採樣把深層「語意」往高解析度傳；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PAN 下採樣把淺層「定位」往深層傳；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交會處用 Concat + C3k2 真正融合。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4370831"/>
            <a:ext cx="548640" cy="548640"/>
          </a:xfrm>
          <a:prstGeom prst="ellipse">
            <a:avLst/>
          </a:prstGeom>
          <a:solidFill>
            <a:srgbClr val="215C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4206240"/>
            <a:ext cx="10241280" cy="12344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215C77"/>
                </a:solidFill>
                <a:latin typeface="Microsoft JhengHei"/>
                <a:ea typeface="Microsoft JhengHei"/>
                <a:cs typeface="Microsoft JhengHei"/>
              </a:rPr>
              <a:t>③ Head 三尺度預測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P3 / P4 / P5 各自送進 Detect；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cv2+DFL 解碼框、cv3+sigmoid 分類；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最後彙整做 NMS。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8064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核心一句話：</a:t>
            </a:r>
            <a:r>
              <a:rPr sz="15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下採樣換取語意與感受野、犧牲定位；頸部再用雙向融合，把語意與定位重新補回每個尺度。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A6B7B"/>
                </a:solidFill>
                <a:latin typeface="Microsoft JhengHei"/>
                <a:ea typeface="Microsoft JhengHei"/>
                <a:cs typeface="Microsoft JhengHei"/>
              </a:rPr>
              <a:t>資料流：</a:t>
            </a:r>
            <a:r>
              <a:rPr sz="1300" b="0" i="0">
                <a:solidFill>
                  <a:srgbClr val="5A6B7B"/>
                </a:solidFill>
                <a:latin typeface="Consolas"/>
                <a:ea typeface="Consolas"/>
                <a:cs typeface="Consolas"/>
              </a:rPr>
              <a:t>Conv/C3k2 → SPPF → C2PSA → FPN↑ → PAN↓ → Detect+DFL → NMS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15568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YOLO11 特色（對比 v8）與程式模組位置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2103120" cy="566928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面向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2651760" y="1325880"/>
            <a:ext cx="2743200" cy="566928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YOLOv8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959" y="1325880"/>
            <a:ext cx="3657600" cy="566928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YOLO11</a:t>
            </a:r>
          </a:p>
        </p:txBody>
      </p:sp>
      <p:sp>
        <p:nvSpPr>
          <p:cNvPr id="6" name="Rectangle 5"/>
          <p:cNvSpPr/>
          <p:nvPr/>
        </p:nvSpPr>
        <p:spPr>
          <a:xfrm>
            <a:off x="9052560" y="1325880"/>
            <a:ext cx="2606040" cy="566928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程式位置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92807"/>
            <a:ext cx="210312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主力特徵塊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892807"/>
            <a:ext cx="274320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C2f（e=1.0）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59" y="1892807"/>
            <a:ext cx="365760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C3k2（e=0.5 + c3k 開關）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60" y="1892807"/>
            <a:ext cx="260604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onsolas"/>
                <a:ea typeface="Consolas"/>
                <a:cs typeface="Consolas"/>
              </a:rPr>
              <a:t>block.py:1074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59736"/>
            <a:ext cx="21031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全域建模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2459736"/>
            <a:ext cx="27432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59" y="2459736"/>
            <a:ext cx="36576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新增 C2PSA 注意力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2459736"/>
            <a:ext cx="26060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onsolas"/>
                <a:ea typeface="Consolas"/>
                <a:cs typeface="Consolas"/>
              </a:rPr>
              <a:t>block.py:1576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26663"/>
            <a:ext cx="210312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分類分支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3026663"/>
            <a:ext cx="274320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標準 Conv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3026663"/>
            <a:ext cx="365760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DWConv 深度可分離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3026663"/>
            <a:ext cx="260604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onsolas"/>
                <a:ea typeface="Consolas"/>
                <a:cs typeface="Consolas"/>
              </a:rPr>
              <a:t>head.py:100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593591"/>
            <a:ext cx="21031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框回歸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3593591"/>
            <a:ext cx="27432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DFL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59" y="3593591"/>
            <a:ext cx="36576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DFL（沿用，配 anchor-free）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3593591"/>
            <a:ext cx="26060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onsolas"/>
                <a:ea typeface="Consolas"/>
                <a:cs typeface="Consolas"/>
              </a:rPr>
              <a:t>block.py:63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60520"/>
            <a:ext cx="210312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基礎卷積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4160520"/>
            <a:ext cx="274320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Conv（BN+SiLU）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94959" y="4160520"/>
            <a:ext cx="365760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Conv（相同）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4160520"/>
            <a:ext cx="2606040" cy="56692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onsolas"/>
                <a:ea typeface="Consolas"/>
                <a:cs typeface="Consolas"/>
              </a:rPr>
              <a:t>conv.py:41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892040"/>
            <a:ext cx="11064240" cy="16002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三大差異一句話總結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C2f → C3k2：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更深、更省算力（CSP 分流 + 殘差 + c3k 控深度）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新增 C2PSA：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在 P5 補一次全域注意力，卷積看不到的長距關係交給它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•  </a:t>
            </a:r>
            <a:r>
              <a:rPr sz="1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分類用 DWConv：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一層 3×3 從 O(c²·9) 降到 O(c·9 + c²)，這是參數更少的主因之一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15568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loss 的 IoU 與「判斷正確」的 IoU 一樣嗎？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33271"/>
            <a:ext cx="694944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答案：不一樣。</a:t>
            </a:r>
            <a:r>
              <a:rPr sz="1400" b="0" i="0">
                <a:solidFill>
                  <a:srgbClr val="5A6B7B"/>
                </a:solidFill>
                <a:latin typeface="Microsoft JhengHei"/>
                <a:ea typeface="Microsoft JhengHei"/>
                <a:cs typeface="Microsoft JhengHei"/>
              </a:rPr>
              <a:t>訓練用 CIoU，評估 mAP 與 NMS 用純 IoU。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18120" y="100584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訓練 CIoU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10928" y="100584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評估 純 IoU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2468880" cy="457200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用途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1572768"/>
            <a:ext cx="1737360" cy="457200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哪種 IoU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79" y="1572768"/>
            <a:ext cx="2286000" cy="457200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程式位置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79" y="1572768"/>
            <a:ext cx="4572000" cy="457200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為什麼選這種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29967"/>
            <a:ext cx="2468880" cy="658368"/>
          </a:xfrm>
          <a:prstGeom prst="rect">
            <a:avLst/>
          </a:prstGeom>
          <a:solidFill>
            <a:srgbClr val="E1EFEA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① 框回歸 loss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2029967"/>
            <a:ext cx="1737360" cy="658368"/>
          </a:xfrm>
          <a:prstGeom prst="rect">
            <a:avLst/>
          </a:prstGeom>
          <a:solidFill>
            <a:srgbClr val="E1EFEA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CIoU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79" y="2029967"/>
            <a:ext cx="2286000" cy="658368"/>
          </a:xfrm>
          <a:prstGeom prst="rect">
            <a:avLst/>
          </a:prstGeom>
          <a:solidFill>
            <a:srgbClr val="E1EFEA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733"/>
                </a:solidFill>
                <a:latin typeface="Consolas"/>
                <a:ea typeface="Consolas"/>
                <a:cs typeface="Consolas"/>
              </a:rPr>
              <a:t>loss.py:189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79" y="2029967"/>
            <a:ext cx="4572000" cy="658368"/>
          </a:xfrm>
          <a:prstGeom prst="rect">
            <a:avLst/>
          </a:prstGeom>
          <a:solidFill>
            <a:srgbClr val="E1EFEA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要可微分；兩框零重疊時仍要有梯度，模型才學得動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88335"/>
            <a:ext cx="2468880" cy="658368"/>
          </a:xfrm>
          <a:prstGeom prst="rect">
            <a:avLst/>
          </a:prstGeom>
          <a:solidFill>
            <a:srgbClr val="E1EFEA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② 正樣本分配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2688335"/>
            <a:ext cx="1737360" cy="658368"/>
          </a:xfrm>
          <a:prstGeom prst="rect">
            <a:avLst/>
          </a:prstGeom>
          <a:solidFill>
            <a:srgbClr val="E1EFEA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CIoU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79" y="2688335"/>
            <a:ext cx="2286000" cy="658368"/>
          </a:xfrm>
          <a:prstGeom prst="rect">
            <a:avLst/>
          </a:prstGeom>
          <a:solidFill>
            <a:srgbClr val="E1EFEA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733"/>
                </a:solidFill>
                <a:latin typeface="Consolas"/>
                <a:ea typeface="Consolas"/>
                <a:cs typeface="Consolas"/>
              </a:rPr>
              <a:t>tal.py:215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79" y="2688335"/>
            <a:ext cx="4572000" cy="658368"/>
          </a:xfrm>
          <a:prstGeom prst="rect">
            <a:avLst/>
          </a:prstGeom>
          <a:solidFill>
            <a:srgbClr val="E1EFEA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當「框品質」分數，決定哪個 anchor 配哪個 GT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46703"/>
            <a:ext cx="2468880" cy="658368"/>
          </a:xfrm>
          <a:prstGeom prst="rect">
            <a:avLst/>
          </a:prstGeom>
          <a:solidFill>
            <a:srgbClr val="E9EEF5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③ 驗證 / mAP 判定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3346703"/>
            <a:ext cx="1737360" cy="658368"/>
          </a:xfrm>
          <a:prstGeom prst="rect">
            <a:avLst/>
          </a:prstGeom>
          <a:solidFill>
            <a:srgbClr val="E9EEF5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純 IoU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79" y="3346703"/>
            <a:ext cx="2286000" cy="658368"/>
          </a:xfrm>
          <a:prstGeom prst="rect">
            <a:avLst/>
          </a:prstGeom>
          <a:solidFill>
            <a:srgbClr val="E9EEF5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733"/>
                </a:solidFill>
                <a:latin typeface="Consolas"/>
                <a:ea typeface="Consolas"/>
                <a:cs typeface="Consolas"/>
              </a:rPr>
              <a:t>metrics.py:454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79" y="3346703"/>
            <a:ext cx="4572000" cy="658368"/>
          </a:xfrm>
          <a:prstGeom prst="rect">
            <a:avLst/>
          </a:prstGeom>
          <a:solidFill>
            <a:srgbClr val="E9EEF5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要公平、標準（COCO 慣例），門檻 0.5–0.95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005072"/>
            <a:ext cx="2468880" cy="658368"/>
          </a:xfrm>
          <a:prstGeom prst="rect">
            <a:avLst/>
          </a:prstGeom>
          <a:solidFill>
            <a:srgbClr val="E9EEF5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④ NMS 去重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4005072"/>
            <a:ext cx="1737360" cy="658368"/>
          </a:xfrm>
          <a:prstGeom prst="rect">
            <a:avLst/>
          </a:prstGeom>
          <a:solidFill>
            <a:srgbClr val="E9EEF5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純 IoU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79" y="4005072"/>
            <a:ext cx="2286000" cy="658368"/>
          </a:xfrm>
          <a:prstGeom prst="rect">
            <a:avLst/>
          </a:prstGeom>
          <a:solidFill>
            <a:srgbClr val="E9EEF5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733"/>
                </a:solidFill>
                <a:latin typeface="Consolas"/>
                <a:ea typeface="Consolas"/>
                <a:cs typeface="Consolas"/>
              </a:rPr>
              <a:t>iou = 0.7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79" y="4005072"/>
            <a:ext cx="4572000" cy="658368"/>
          </a:xfrm>
          <a:prstGeom prst="rect">
            <a:avLst/>
          </a:prstGeom>
          <a:solidFill>
            <a:srgbClr val="E9EEF5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只需衡量重疊程度，移除重複的框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828032"/>
            <a:ext cx="11064240" cy="15544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關鍵差別：為什麼不能混用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純 IoU = 交集 / 聯集</a:t>
            </a:r>
            <a:r>
              <a:rPr sz="13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　兩框沒重疊就 = 0，梯度也 = 0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CIoU = IoU − 中心距離懲罰 − 長寬比懲罰</a:t>
            </a:r>
            <a:r>
              <a:rPr sz="13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　零重疊時仍有梯度可學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→ </a:t>
            </a:r>
            <a:r>
              <a:rPr sz="135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loss 一定用 CIoU 家族</a:t>
            </a:r>
            <a:r>
              <a:rPr sz="13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（要梯度）；</a:t>
            </a:r>
            <a:r>
              <a:rPr sz="135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mAP / NMS 一定用純 IoU</a:t>
            </a:r>
            <a:r>
              <a:rPr sz="13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（要跟論文公平比較）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C3k2：進入 YOLO11 的改變　—　取代 v8 的 C2f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0" y="50292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深入 1/2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4983480" cy="22402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5A6B7B"/>
                </a:solidFill>
                <a:latin typeface="Microsoft JhengHei"/>
                <a:ea typeface="Microsoft JhengHei"/>
                <a:cs typeface="Microsoft JhengHei"/>
              </a:rPr>
              <a:t>YOLOv8 · C2f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內部 Bottleneck e=1.0（不壓縮）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固定結構，無深度開關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每層都是同一種塊</a:t>
            </a:r>
          </a:p>
        </p:txBody>
      </p:sp>
      <p:sp>
        <p:nvSpPr>
          <p:cNvPr id="5" name="Chevron 4"/>
          <p:cNvSpPr/>
          <p:nvPr/>
        </p:nvSpPr>
        <p:spPr>
          <a:xfrm>
            <a:off x="5669280" y="2194560"/>
            <a:ext cx="502920" cy="457200"/>
          </a:xfrm>
          <a:prstGeom prst="chevron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55080" y="1325880"/>
            <a:ext cx="5257800" cy="2240280"/>
          </a:xfrm>
          <a:prstGeom prst="roundRect">
            <a:avLst>
              <a:gd name="adj" fmla="val 6000"/>
            </a:avLst>
          </a:prstGeom>
          <a:solidFill>
            <a:srgbClr val="E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6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YOLO11 · C3k2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新增 c3k 開關：可換成巢狀 C3k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內部 e=0.5（再壓一半通道）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• 可逐層 / 逐規模調深度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1005840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四大提升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60520"/>
            <a:ext cx="5394960" cy="96012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1　</a:t>
            </a:r>
            <a:r>
              <a:rPr sz="15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同算力更深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c3k=True 用巢狀 CSP 加深特徵抽取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160520"/>
            <a:ext cx="5394960" cy="96012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2　</a:t>
            </a:r>
            <a:r>
              <a:rPr sz="15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更省參數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e=0.5 內部再壓一半通道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239512"/>
            <a:ext cx="5394960" cy="96012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3　</a:t>
            </a:r>
            <a:r>
              <a:rPr sz="15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彈性縮放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m / l / x 規模自動啟用 c3k=True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239512"/>
            <a:ext cx="5394960" cy="96012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4　</a:t>
            </a:r>
            <a:r>
              <a:rPr sz="15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收斂更快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保留 CSP 多梯度路徑優勢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C3k2　—　可調變數與適用情形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0" y="50292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深入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33271"/>
            <a:ext cx="1106424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B7B"/>
                </a:solidFill>
                <a:latin typeface="Microsoft JhengHei"/>
                <a:ea typeface="Microsoft JhengHei"/>
                <a:cs typeface="Microsoft JhengHei"/>
              </a:rPr>
              <a:t>在 </a:t>
            </a:r>
            <a:r>
              <a:rPr sz="1300" b="1" i="0">
                <a:solidFill>
                  <a:srgbClr val="0A2540"/>
                </a:solidFill>
                <a:latin typeface="Consolas"/>
                <a:ea typeface="Consolas"/>
                <a:cs typeface="Consolas"/>
              </a:rPr>
              <a:t>yolo11.yaml</a:t>
            </a:r>
            <a:r>
              <a:rPr sz="1300" b="0" i="0">
                <a:solidFill>
                  <a:srgbClr val="5A6B7B"/>
                </a:solidFill>
                <a:latin typeface="Microsoft JhengHei"/>
                <a:ea typeface="Microsoft JhengHei"/>
                <a:cs typeface="Microsoft JhengHei"/>
              </a:rPr>
              <a:t> 的 args </a:t>
            </a:r>
            <a:r>
              <a:rPr sz="1300" b="1" i="0">
                <a:solidFill>
                  <a:srgbClr val="0A2540"/>
                </a:solidFill>
                <a:latin typeface="Consolas"/>
                <a:ea typeface="Consolas"/>
                <a:cs typeface="Consolas"/>
              </a:rPr>
              <a:t>[c2, c3k, e]</a:t>
            </a:r>
            <a:r>
              <a:rPr sz="1300" b="0" i="0">
                <a:solidFill>
                  <a:srgbClr val="5A6B7B"/>
                </a:solidFill>
                <a:latin typeface="Microsoft JhengHei"/>
                <a:ea typeface="Microsoft JhengHei"/>
                <a:cs typeface="Microsoft JhengHei"/>
              </a:rPr>
              <a:t> 直接改；改 n（深度）用 scales 的 depth 倍率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286000" cy="457200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變數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2834640" y="1481328"/>
            <a:ext cx="1828800" cy="457200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預設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481328"/>
            <a:ext cx="2743200" cy="457200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作用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1481328"/>
            <a:ext cx="4206240" cy="457200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什麼情形適合調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38528"/>
            <a:ext cx="228600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2540"/>
                </a:solidFill>
                <a:latin typeface="Consolas"/>
                <a:ea typeface="Consolas"/>
                <a:cs typeface="Consolas"/>
              </a:rPr>
              <a:t>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1938528"/>
            <a:ext cx="182880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×depth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938528"/>
            <a:ext cx="274320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區塊堆疊深度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938528"/>
            <a:ext cx="420624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任務難 / 資料多 → 加深；想快 / 怕過擬合 → 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96896"/>
            <a:ext cx="22860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2540"/>
                </a:solidFill>
                <a:latin typeface="Consolas"/>
                <a:ea typeface="Consolas"/>
                <a:cs typeface="Consolas"/>
              </a:rPr>
              <a:t>c3k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2596896"/>
            <a:ext cx="1828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False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2596896"/>
            <a:ext cx="27432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內部是否用巢狀 C3k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2596896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深層、大模型、複雜場景 → True；淺層求快 → False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55264"/>
            <a:ext cx="228600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2540"/>
                </a:solidFill>
                <a:latin typeface="Consolas"/>
                <a:ea typeface="Consolas"/>
                <a:cs typeface="Consolas"/>
              </a:rPr>
              <a:t>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3255264"/>
            <a:ext cx="182880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0.5（淺層 0.25）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3255264"/>
            <a:ext cx="274320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內部通道壓縮比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3255264"/>
            <a:ext cx="420624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省算力 → 調小；要更大容量 → 調大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13632"/>
            <a:ext cx="22860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2540"/>
                </a:solidFill>
                <a:latin typeface="Consolas"/>
                <a:ea typeface="Consolas"/>
                <a:cs typeface="Consolas"/>
              </a:rPr>
              <a:t>shortcut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34640" y="3913632"/>
            <a:ext cx="18288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True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913632"/>
            <a:ext cx="27432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殘差直連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3913632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深網路保持 True；頸部淺塊可關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572000"/>
            <a:ext cx="228600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2540"/>
                </a:solidFill>
                <a:latin typeface="Consolas"/>
                <a:ea typeface="Consolas"/>
                <a:cs typeface="Consolas"/>
              </a:rPr>
              <a:t>C3k2_CA / DCN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34640" y="4572000"/>
            <a:ext cx="182880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本 fork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63440" y="4572000"/>
            <a:ext cx="274320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座標注意力 / 可變形卷積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06640" y="4572000"/>
            <a:ext cx="420624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小物件定位、形變大 → 試這些變體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0644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給你專案：</a:t>
            </a:r>
            <a:r>
              <a:rPr sz="13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病斑小又密 → 先把淺層 e 留 0.25 省算力、深層 c3k=True 加強語意；定位不準再試 C3k2_DCN。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Conv：進入 YOLO11 的改變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0" y="50292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深入 1/2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先講清楚：</a:t>
            </a:r>
            <a:r>
              <a:rPr sz="14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Conv 模組本身沿用 v5 / v8，仍是 Conv2d + BN + SiLU，沒有改變。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A6B7B"/>
                </a:solidFill>
                <a:latin typeface="Microsoft JhengHei"/>
                <a:ea typeface="Microsoft JhengHei"/>
                <a:cs typeface="Microsoft JhengHei"/>
              </a:rPr>
              <a:t>真正的卷積相關提升，在於 YOLO11「怎麼用卷積」：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11064240" cy="111556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① 分類頭改用 DWConv（深度可分離卷積）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參數大減：標準 O(c²·k²) → 深度可分離 O(c·k² + c²)　·　head.py:100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630168"/>
            <a:ext cx="11064240" cy="111556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② stride-2 卷積取代池化下採樣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下採樣本身也能學特徵，不再用無參數的 MaxPool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928616"/>
            <a:ext cx="11064240" cy="111556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③ BN 可融合進卷積權重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部署時 BN 併入卷積，推論少一次運算（forward_fuse）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Conv　—　可調變數與適用情形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0" y="50292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100" b="0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深入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33271"/>
            <a:ext cx="1106424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B7B"/>
                </a:solidFill>
                <a:latin typeface="Microsoft JhengHei"/>
                <a:ea typeface="Microsoft JhengHei"/>
                <a:cs typeface="Microsoft JhengHei"/>
              </a:rPr>
              <a:t>這些是</a:t>
            </a:r>
            <a:r>
              <a:rPr sz="13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結構參數</a:t>
            </a:r>
            <a:r>
              <a:rPr sz="1300" b="0" i="0">
                <a:solidFill>
                  <a:srgbClr val="5A6B7B"/>
                </a:solidFill>
                <a:latin typeface="Microsoft JhengHei"/>
                <a:ea typeface="Microsoft JhengHei"/>
                <a:cs typeface="Microsoft JhengHei"/>
              </a:rPr>
              <a:t>，在模型 yaml / 程式裡改（不在 default.yaml 訓練超參數）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2011680" cy="457200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變數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1481328"/>
            <a:ext cx="1554480" cy="457200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預設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1481328"/>
            <a:ext cx="2926080" cy="457200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作用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481328"/>
            <a:ext cx="4572000" cy="457200"/>
          </a:xfrm>
          <a:prstGeom prst="rect">
            <a:avLst/>
          </a:prstGeom>
          <a:solidFill>
            <a:srgbClr val="0A2540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什麼情形適合調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38528"/>
            <a:ext cx="201168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2540"/>
                </a:solidFill>
                <a:latin typeface="Consolas"/>
                <a:ea typeface="Consolas"/>
                <a:cs typeface="Consolas"/>
              </a:rPr>
              <a:t>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938528"/>
            <a:ext cx="155448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1938528"/>
            <a:ext cx="292608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卷積核大小 → 感受野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938528"/>
            <a:ext cx="457200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需更大感受野 → 5 / 7（成本↑，少用）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96896"/>
            <a:ext cx="20116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2540"/>
                </a:solidFill>
                <a:latin typeface="Consolas"/>
                <a:ea typeface="Consolas"/>
                <a:cs typeface="Consolas"/>
              </a:rPr>
              <a:t>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0" y="2596896"/>
            <a:ext cx="1554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2596896"/>
            <a:ext cx="29260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步幅 → 下採樣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2596896"/>
            <a:ext cx="45720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s=2 解析度減半（主幹下採樣用）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55264"/>
            <a:ext cx="201168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2540"/>
                </a:solidFill>
                <a:latin typeface="Consolas"/>
                <a:ea typeface="Consolas"/>
                <a:cs typeface="Consolas"/>
              </a:rPr>
              <a:t>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3255264"/>
            <a:ext cx="155448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255264"/>
            <a:ext cx="292608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分組卷積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3255264"/>
            <a:ext cx="457200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g=c1 → DWConv，邊緣部署省參數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13632"/>
            <a:ext cx="20116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2540"/>
                </a:solidFill>
                <a:latin typeface="Consolas"/>
                <a:ea typeface="Consolas"/>
                <a:cs typeface="Consolas"/>
              </a:rPr>
              <a:t>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0" y="3913632"/>
            <a:ext cx="15544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0" y="3913632"/>
            <a:ext cx="29260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空洞卷積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3913632"/>
            <a:ext cx="457200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不下採樣也想擴感受野時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572000"/>
            <a:ext cx="201168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A2540"/>
                </a:solidFill>
                <a:latin typeface="Consolas"/>
                <a:ea typeface="Consolas"/>
                <a:cs typeface="Consolas"/>
              </a:rPr>
              <a:t>act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4572000"/>
            <a:ext cx="155448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SiLU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4572000"/>
            <a:ext cx="292608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激活函數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40880" y="4572000"/>
            <a:ext cx="4572000" cy="658368"/>
          </a:xfrm>
          <a:prstGeom prst="rect">
            <a:avLst/>
          </a:prstGeom>
          <a:solidFill>
            <a:srgbClr val="EEF3F8"/>
          </a:solidFill>
          <a:ln w="6350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邊緣裝置 → ReLU 更快；要準度留 SiLU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0644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C7293"/>
                </a:solidFill>
                <a:latin typeface="Microsoft JhengHei"/>
                <a:ea typeface="Microsoft JhengHei"/>
                <a:cs typeface="Microsoft JhengHei"/>
              </a:rPr>
              <a:t>最有效的槓桿不在 Conv 參數：</a:t>
            </a:r>
            <a:r>
              <a:rPr sz="1350" b="0" i="0">
                <a:solidFill>
                  <a:srgbClr val="1A2733"/>
                </a:solidFill>
                <a:latin typeface="Microsoft JhengHei"/>
                <a:ea typeface="Microsoft JhengHei"/>
                <a:cs typeface="Microsoft JhengHei"/>
              </a:rPr>
              <a:t>imgsz（輸入解析度）決定卷積實際看到多大範圍 — 小物件先調它（如 640 → 960）。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設計哲學統整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554480"/>
            <a:ext cx="640080" cy="64008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508760"/>
            <a:ext cx="4572000" cy="192024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算力花在刀口上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D6E6F2"/>
                </a:solidFill>
                <a:latin typeface="Microsoft JhengHei"/>
                <a:ea typeface="Microsoft JhengHei"/>
                <a:cs typeface="Microsoft JhengHei"/>
              </a:rPr>
              <a:t>高解析度層 e=0.25 瘦身、注意力只放 20×20、分類分支用 DWConv</a:t>
            </a:r>
          </a:p>
        </p:txBody>
      </p:sp>
      <p:sp>
        <p:nvSpPr>
          <p:cNvPr id="5" name="Oval 4"/>
          <p:cNvSpPr/>
          <p:nvPr/>
        </p:nvSpPr>
        <p:spPr>
          <a:xfrm>
            <a:off x="6263640" y="1554480"/>
            <a:ext cx="640080" cy="64008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508760"/>
            <a:ext cx="4572000" cy="192024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梯度路徑越多越好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D6E6F2"/>
                </a:solidFill>
                <a:latin typeface="Microsoft JhengHei"/>
                <a:ea typeface="Microsoft JhengHei"/>
                <a:cs typeface="Microsoft JhengHei"/>
              </a:rPr>
              <a:t>CSP 分流、殘差、FPN/PAN 跨層直連，全在給梯度修高速公路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794760"/>
            <a:ext cx="640080" cy="64008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749040"/>
            <a:ext cx="4572000" cy="192024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預測不確定性而非單點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D6E6F2"/>
                </a:solidFill>
                <a:latin typeface="Microsoft JhengHei"/>
                <a:ea typeface="Microsoft JhengHei"/>
                <a:cs typeface="Microsoft JhengHei"/>
              </a:rPr>
              <a:t>DFL 用 16-bin 分佈取代直接回歸，邊界模糊時更穩</a:t>
            </a:r>
          </a:p>
        </p:txBody>
      </p:sp>
      <p:sp>
        <p:nvSpPr>
          <p:cNvPr id="9" name="Oval 8"/>
          <p:cNvSpPr/>
          <p:nvPr/>
        </p:nvSpPr>
        <p:spPr>
          <a:xfrm>
            <a:off x="6263640" y="3794760"/>
            <a:ext cx="640080" cy="64008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400" b="1" i="0">
                <a:solidFill>
                  <a:srgbClr val="0A2540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749040"/>
            <a:ext cx="4572000" cy="192024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一份結構、五種規模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D6E6F2"/>
                </a:solidFill>
                <a:latin typeface="Microsoft JhengHei"/>
                <a:ea typeface="Microsoft JhengHei"/>
                <a:cs typeface="Microsoft JhengHei"/>
              </a:rPr>
              <a:t>depth / width / max_channels 三倍率複合縮放，n→x 共用同一 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相較 v8：</a:t>
            </a:r>
            <a:r>
              <a:rPr sz="1300" b="0" i="0">
                <a:solidFill>
                  <a:srgbClr val="9FB3C8"/>
                </a:solidFill>
                <a:latin typeface="Microsoft JhengHei"/>
                <a:ea typeface="Microsoft JhengHei"/>
                <a:cs typeface="Microsoft JhengHei"/>
              </a:rPr>
              <a:t>C2f→C3k2（更深更省）、新增 C2PSA（全域注意力）、分類分支輕量化（DWConv）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