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515600" cy="21945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YOLO11 架構解析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2400" b="0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五大模組　—　作用、數學與銜接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4160520"/>
            <a:ext cx="1051560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8"/>
                </a:solidFill>
                <a:latin typeface="Microsoft JhengHei"/>
                <a:ea typeface="Microsoft JhengHei"/>
                <a:cs typeface="Microsoft JhengHei"/>
              </a:rPr>
              <a:t>依據 </a:t>
            </a:r>
            <a:r>
              <a:rPr sz="1300" b="0" i="0">
                <a:solidFill>
                  <a:srgbClr val="9FB3C8"/>
                </a:solidFill>
                <a:latin typeface="Consolas"/>
                <a:ea typeface="Consolas"/>
                <a:cs typeface="Consolas"/>
              </a:rPr>
              <a:t>ultralytics_yolo11/cfg/models/11/yolo11.yaml</a:t>
            </a:r>
            <a:r>
              <a:rPr sz="1300" b="0" i="0">
                <a:solidFill>
                  <a:srgbClr val="9FB3C8"/>
                </a:solidFill>
                <a:latin typeface="Microsoft JhengHei"/>
                <a:ea typeface="Microsoft JhengHei"/>
                <a:cs typeface="Microsoft JhengHei"/>
              </a:rPr>
              <a:t>　·　全模型 24 層（0–23）：Backbone → Neck → 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502920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502920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0" i="0">
                <a:solidFill>
                  <a:srgbClr val="2EC4B6"/>
                </a:solidFill>
                <a:latin typeface="Consolas"/>
                <a:ea typeface="Consolas"/>
                <a:cs typeface="Consolas"/>
              </a:rPr>
              <a:t>C3k2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49240" y="502920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SPPF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502920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0" i="0">
                <a:solidFill>
                  <a:srgbClr val="2EC4B6"/>
                </a:solidFill>
                <a:latin typeface="Consolas"/>
                <a:ea typeface="Consolas"/>
                <a:cs typeface="Consolas"/>
              </a:rPr>
              <a:t>C2PSA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502920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Detect+DFL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五大模組住在網路的哪裡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B"/>
                </a:solidFill>
                <a:latin typeface="Consolas"/>
                <a:ea typeface="Consolas"/>
                <a:cs typeface="Consolas"/>
              </a:rPr>
              <a:t>輸入 640×640×3</a:t>
            </a:r>
            <a:r>
              <a:rPr sz="1300" b="0" i="0">
                <a:solidFill>
                  <a:srgbClr val="5A6B7B"/>
                </a:solidFill>
                <a:latin typeface="Microsoft JhengHei"/>
                <a:ea typeface="Microsoft JhengHei"/>
                <a:cs typeface="Microsoft JhengHei"/>
              </a:rPr>
              <a:t>　逐段往右傳遞，最後輸出偵測框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Backbone　主幹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6E6F2"/>
                </a:solidFill>
                <a:latin typeface="Microsoft JhengHei"/>
                <a:ea typeface="Microsoft JhengHei"/>
                <a:cs typeface="Microsoft JhengHei"/>
              </a:rPr>
              <a:t>層 0–10　抽特徵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06040"/>
            <a:ext cx="3291840" cy="21488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•  Conv ×7　stride-2 下採樣 P1→P5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•  C3k2 ×5　主力特徵抽取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•  SPPF　多尺度感受野（層 9）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•  C2PSA　全域注意力（層 10）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600200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Neck　頸部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6E6F2"/>
                </a:solidFill>
                <a:latin typeface="Microsoft JhengHei"/>
                <a:ea typeface="Microsoft JhengHei"/>
                <a:cs typeface="Microsoft JhengHei"/>
              </a:rPr>
              <a:t>層 11–22　跨尺度融合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606040"/>
            <a:ext cx="3291840" cy="21488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•  FPN 上採樣：語意往高解析度傳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•  PAN 下採樣：定位往深層傳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•  Upsample + Concat + C3k2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•  產出 P3 / P4 / P5 三尺度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600200"/>
            <a:ext cx="3291840" cy="868680"/>
          </a:xfrm>
          <a:prstGeom prst="roundRect">
            <a:avLst>
              <a:gd name="adj" fmla="val 6000"/>
            </a:avLst>
          </a:prstGeom>
          <a:solidFill>
            <a:srgbClr val="215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Head　偵測頭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6E6F2"/>
                </a:solidFill>
                <a:latin typeface="Microsoft JhengHei"/>
                <a:ea typeface="Microsoft JhengHei"/>
                <a:cs typeface="Microsoft JhengHei"/>
              </a:rPr>
              <a:t>層 23　預測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2606040"/>
            <a:ext cx="3291840" cy="21488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•  Detect　解耦雙分支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•  DFL　分佈式框回歸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•  三尺度各自回歸 + 分類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•  → NMS → 最終結果</a:t>
            </a:r>
          </a:p>
        </p:txBody>
      </p:sp>
      <p:sp>
        <p:nvSpPr>
          <p:cNvPr id="10" name="Chevron 9"/>
          <p:cNvSpPr/>
          <p:nvPr/>
        </p:nvSpPr>
        <p:spPr>
          <a:xfrm>
            <a:off x="3886200" y="1874519"/>
            <a:ext cx="640080" cy="502920"/>
          </a:xfrm>
          <a:prstGeom prst="chevron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7909560" y="1874519"/>
            <a:ext cx="640080" cy="502920"/>
          </a:xfrm>
          <a:prstGeom prst="chevron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1064240" cy="4114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解析度金字塔：下採樣換語意，不同尺度分工不同大小的物件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86400"/>
            <a:ext cx="1463040" cy="329184"/>
          </a:xfrm>
          <a:prstGeom prst="rect">
            <a:avLst/>
          </a:prstGeom>
          <a:solidFill>
            <a:srgbClr val="0A2540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層級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15584"/>
            <a:ext cx="1463040" cy="329184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P3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144768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P4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73952"/>
            <a:ext cx="1463040" cy="329184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P5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5486400"/>
            <a:ext cx="1463040" cy="329184"/>
          </a:xfrm>
          <a:prstGeom prst="rect">
            <a:avLst/>
          </a:prstGeom>
          <a:solidFill>
            <a:srgbClr val="0A2540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stride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5815584"/>
            <a:ext cx="1463040" cy="329184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6144768"/>
            <a:ext cx="14630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6473952"/>
            <a:ext cx="1463040" cy="329184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5486400"/>
            <a:ext cx="1828800" cy="329184"/>
          </a:xfrm>
          <a:prstGeom prst="rect">
            <a:avLst/>
          </a:prstGeom>
          <a:solidFill>
            <a:srgbClr val="0A2540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特徵圖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5815584"/>
            <a:ext cx="1828800" cy="329184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80×80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6144768"/>
            <a:ext cx="18288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40×40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6473952"/>
            <a:ext cx="1828800" cy="329184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20×20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0" y="5486400"/>
            <a:ext cx="2011680" cy="329184"/>
          </a:xfrm>
          <a:prstGeom prst="rect">
            <a:avLst/>
          </a:prstGeom>
          <a:solidFill>
            <a:srgbClr val="0A2540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每格原圖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5815584"/>
            <a:ext cx="2011680" cy="329184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8×8 px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0" y="6144768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16×16 px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6473952"/>
            <a:ext cx="2011680" cy="329184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32×32 px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5486400"/>
            <a:ext cx="4297680" cy="329184"/>
          </a:xfrm>
          <a:prstGeom prst="rect">
            <a:avLst/>
          </a:prstGeom>
          <a:solidFill>
            <a:srgbClr val="0A2540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負責物件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5815584"/>
            <a:ext cx="4297680" cy="329184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小物件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6144768"/>
            <a:ext cx="4297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中物件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6473952"/>
            <a:ext cx="4297680" cy="329184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大物件 / 全圖語意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11480"/>
            <a:ext cx="603504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Conv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卷積 + 批次正規化 + SiLU，全網最底層積木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26679" y="566928"/>
            <a:ext cx="388620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conv.py:41 · 層 0,1,3,5,7…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64592" cy="44805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07492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作用 — 它在做什麼、為什麼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5120640" cy="41148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結構：Conv2d → BatchNorm → SiLU 三合一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SiLU 平滑非單調，負區仍有梯度，不易死神經元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bias=False：偏置交給 BN 的平移項 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用 stride-2 卷積取代池化下採樣，下採樣也能學特徵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部署時 BN 可融合進卷積權重，省一次運算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數學重點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y = SiLU(BN(W ∗ x))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0" i="0">
                <a:solidFill>
                  <a:srgbClr val="BFE9E0"/>
                </a:solidFill>
                <a:latin typeface="Consolas"/>
                <a:ea typeface="Consolas"/>
                <a:cs typeface="Consolas"/>
              </a:rPr>
              <a:t>SiLU(z) = z·σ(z) = z / (1 + e^(−z))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2EC4B6"/>
                </a:solidFill>
                <a:latin typeface="Consolas"/>
                <a:ea typeface="Consolas"/>
                <a:cs typeface="Consolas"/>
              </a:rPr>
              <a:t>── 推論時融合 BN ──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W' = W · γ / √(σ² + ε)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b' = β − μγ / √(σ² + ε)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8"/>
                </a:solidFill>
                <a:latin typeface="Microsoft JhengHei"/>
                <a:ea typeface="Microsoft JhengHei"/>
                <a:cs typeface="Microsoft JhengHei"/>
              </a:rPr>
              <a:t>→ 卷積、正規化、激活綁成一個可融合單元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11480"/>
            <a:ext cx="603504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C3k2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CSP 特徵塊，YOLO11 主力（取代 v8 的 C2f）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26679" y="566928"/>
            <a:ext cx="388620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block.py:1074 · 層 2,4,6,8…22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64592" cy="44805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07492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作用 — 它在做什麼、為什麼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5120640" cy="41148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輸入經 cv1 切兩半：一半直通、一半逐級過 Bottleneck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所有中間輸出全部串接，再用 cv2 融合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CSP 只算一半通道 → 省約一半算力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每個中間輸出直連 cv2，多條梯度路徑（類 DenseNet）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c3k 開關：淺層用單一 Bottleneck，深層換巢狀 C3k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數學重點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y = cv2( cat[ y0, y1, B(y1), B²(y1), … ] 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FE9E0"/>
                </a:solidFill>
                <a:latin typeface="Microsoft JhengHei"/>
                <a:ea typeface="Microsoft JhengHei"/>
                <a:cs typeface="Microsoft JhengHei"/>
              </a:rPr>
              <a:t>Bottleneck（殘差）：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y = x + cv2(cv1(x))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∂y/∂x = I + ∂F/∂x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9FB3C8"/>
                </a:solidFill>
                <a:latin typeface="Microsoft JhengHei"/>
                <a:ea typeface="Microsoft JhengHei"/>
                <a:cs typeface="Microsoft JhengHei"/>
              </a:rPr>
              <a:t>→ 永遠有一條係數為 1 的梯度高速公路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8"/>
                </a:solidFill>
                <a:latin typeface="Microsoft JhengHei"/>
                <a:ea typeface="Microsoft JhengHei"/>
                <a:cs typeface="Microsoft JhengHei"/>
              </a:rPr>
              <a:t>e=0.5（淺層 0.25）內部再壓通道；vs C2f 的 e=1.0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11480"/>
            <a:ext cx="603504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SPPF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空間金字塔池化（快速版），補大感受野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26679" y="566928"/>
            <a:ext cx="388620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block.py:213 · 層 9（P5 末端）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64592" cy="44805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07492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作用 — 它在做什麼、為什麼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5120640" cy="41148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用連續三次 5×5 MaxPool，等效取得多種感受野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四路（含原始）串接後用 1×1 融合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MaxPool 無參數、平移不變，挑出區域最強響應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放在 20×20 的 P5 末端，擴大感受野最便宜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為頸部準備好要往各尺度分發的「全域摘要」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數學重點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FE9E0"/>
                </a:solidFill>
                <a:latin typeface="Microsoft JhengHei"/>
                <a:ea typeface="Microsoft JhengHei"/>
                <a:cs typeface="Microsoft JhengHei"/>
              </a:rPr>
              <a:t>max 池化可疊加：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5×5 → 9×9 → 13×13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四路感受野 = { 1, 5, 9, 13 }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≡ SPP(k=5,9,13)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8"/>
                </a:solidFill>
                <a:latin typeface="Microsoft JhengHei"/>
                <a:ea typeface="Microsoft JhengHei"/>
                <a:cs typeface="Microsoft JhengHei"/>
              </a:rPr>
              <a:t>但只重複算 5×5，省掉大視窗池化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11480"/>
            <a:ext cx="603504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C2PSA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位置敏感注意力，YOLO11 新增的全域建模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26679" y="566928"/>
            <a:ext cx="388620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block.py:1576 · 層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64592" cy="44805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07492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作用 — 它在做什麼、為什麼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5120640" cy="41148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Transformer 配方：Attention + FFN + 殘差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用卷積/BN 取代 LayerNorm，包進 CSP 殼省算力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讓特徵圖上任兩個位置可直接交換資訊（卷積只看局部）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只放最小的 P5（N=400），全域建模才買得起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成果再透過頸部傳播到其他尺度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數學重點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A(i,j) = softmax_j( q_i·k_j / √d_k 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out = V·A^T + DWConv_3×3(V)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2EC4B6"/>
                </a:solidFill>
                <a:latin typeface="Consolas"/>
                <a:ea typeface="Consolas"/>
                <a:cs typeface="Consolas"/>
              </a:rPr>
              <a:t>                       ↑ 位置編碼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key_dim = head_dim × 0.5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9FB3C8"/>
                </a:solidFill>
                <a:latin typeface="Microsoft JhengHei"/>
                <a:ea typeface="Microsoft JhengHei"/>
                <a:cs typeface="Microsoft JhengHei"/>
              </a:rPr>
              <a:t>→ Q/K 維度減半省成本；÷√d_k 防 softmax 飽和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8"/>
                </a:solidFill>
                <a:latin typeface="Microsoft JhengHei"/>
                <a:ea typeface="Microsoft JhengHei"/>
                <a:cs typeface="Microsoft JhengHei"/>
              </a:rPr>
              <a:t>注意力成本 O(N²)：放 P3(N=6400) 太貴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6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411480"/>
            <a:ext cx="6035040" cy="8686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Detect + DFL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600" b="0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anchor-free 解耦偵測頭 + 分佈式框回歸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26679" y="566928"/>
            <a:ext cx="388620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05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head.py:26 · block.py:63 · 層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64592" cy="448056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507492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作用 — 它在做什麼、為什麼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5120640" cy="41148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每尺度兩條分支：cv2 回歸框、cv3 分類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anchor-free：每格中心當點，直接預測到四邊距離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分類分支用 DWConv 深度可分離卷積 → 參數更少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DFL：把每邊距離當 16-bin 機率分佈，取期望值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分佈能表達邊界不確定性，比 L1 單點回歸更穩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13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數學重點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距離取期望：E[d] = Σ i · p_i ,  i=0..15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00" b="0" i="0">
                <a:solidFill>
                  <a:srgbClr val="9FB3C8"/>
                </a:solidFill>
                <a:latin typeface="Microsoft JhengHei"/>
                <a:ea typeface="Microsoft JhengHei"/>
                <a:cs typeface="Microsoft JhengHei"/>
              </a:rPr>
              <a:t>固定權重 = arange(16)，不訓練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框：dist2bbox(E[d]) × stride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類別：sigmoid（多標籤、無背景類）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BFE9E0"/>
                </a:solidFill>
                <a:latin typeface="Consolas"/>
                <a:ea typeface="Consolas"/>
                <a:cs typeface="Consolas"/>
              </a:rPr>
              <a:t>尺度分工　stride 8 / 16 / 32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3C8"/>
                </a:solidFill>
                <a:latin typeface="Microsoft JhengHei"/>
                <a:ea typeface="Microsoft JhengHei"/>
                <a:cs typeface="Microsoft JhengHei"/>
              </a:rPr>
              <a:t>→ 小 / 中 / 大物件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五大模組如何互相搭配銜接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536192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5880" y="1371600"/>
            <a:ext cx="1024128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① Backbone 抽特徵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Conv 逐層 stride-2 下採樣；C3k2 在每個尺度抽特徵；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SPPF 在 P5 補大感受野；C2PSA 補一次全域上下文。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953512"/>
            <a:ext cx="548640" cy="548640"/>
          </a:xfrm>
          <a:prstGeom prst="ellipse">
            <a:avLst/>
          </a:prstGeom>
          <a:solidFill>
            <a:srgbClr val="2C6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788920"/>
            <a:ext cx="1024128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② Neck 雙向融合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FPN 上採樣把深層「語意」往高解析度傳；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PAN 下採樣把淺層「定位」往深層傳；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交會處用 Concat + C3k2 真正融合。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370831"/>
            <a:ext cx="548640" cy="548640"/>
          </a:xfrm>
          <a:prstGeom prst="ellipse">
            <a:avLst/>
          </a:prstGeom>
          <a:solidFill>
            <a:srgbClr val="215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206240"/>
            <a:ext cx="10241280" cy="123444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215C77"/>
                </a:solidFill>
                <a:latin typeface="Microsoft JhengHei"/>
                <a:ea typeface="Microsoft JhengHei"/>
                <a:cs typeface="Microsoft JhengHei"/>
              </a:rPr>
              <a:t>③ Head 三尺度預測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P3 / P4 / P5 各自送進 Detect；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cv2+DFL 解碼框、cv3+sigmoid 分類；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最後彙整做 NMS。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064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核心一句話：</a:t>
            </a:r>
            <a:r>
              <a:rPr sz="15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下採樣換取語意與感受野、犧牲定位；頸部再用雙向融合，把語意與定位重新補回每個尺度。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A6B7B"/>
                </a:solidFill>
                <a:latin typeface="Microsoft JhengHei"/>
                <a:ea typeface="Microsoft JhengHei"/>
                <a:cs typeface="Microsoft JhengHei"/>
              </a:rPr>
              <a:t>資料流：</a:t>
            </a:r>
            <a:r>
              <a:rPr sz="1300" b="0" i="0">
                <a:solidFill>
                  <a:srgbClr val="5A6B7B"/>
                </a:solidFill>
                <a:latin typeface="Consolas"/>
                <a:ea typeface="Consolas"/>
                <a:cs typeface="Consolas"/>
              </a:rPr>
              <a:t>Conv/C3k2 → SPPF → C2PSA → FPN↑ → PAN↓ → Detect+DFL → NMS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1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YOLO11 特色（對比 v8）與程式模組位置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25880"/>
            <a:ext cx="2103120" cy="566928"/>
          </a:xfrm>
          <a:prstGeom prst="rect">
            <a:avLst/>
          </a:prstGeom>
          <a:solidFill>
            <a:srgbClr val="0A2540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面向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1325880"/>
            <a:ext cx="2743200" cy="566928"/>
          </a:xfrm>
          <a:prstGeom prst="rect">
            <a:avLst/>
          </a:prstGeom>
          <a:solidFill>
            <a:srgbClr val="0A2540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YOLOv8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59" y="1325880"/>
            <a:ext cx="3657600" cy="566928"/>
          </a:xfrm>
          <a:prstGeom prst="rect">
            <a:avLst/>
          </a:prstGeom>
          <a:solidFill>
            <a:srgbClr val="0A2540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YOLO11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0" y="1325880"/>
            <a:ext cx="2606040" cy="566928"/>
          </a:xfrm>
          <a:prstGeom prst="rect">
            <a:avLst/>
          </a:prstGeom>
          <a:solidFill>
            <a:srgbClr val="0A2540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程式位置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92807"/>
            <a:ext cx="2103120" cy="566928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主力特徵塊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892807"/>
            <a:ext cx="2743200" cy="566928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C2f（e=1.0）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59" y="1892807"/>
            <a:ext cx="3657600" cy="566928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C3k2（e=0.5 + c3k 開關）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1892807"/>
            <a:ext cx="2606040" cy="566928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Consolas"/>
                <a:ea typeface="Consolas"/>
                <a:cs typeface="Consolas"/>
              </a:rPr>
              <a:t>block.py:1074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59736"/>
            <a:ext cx="2103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全域建模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45973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59" y="2459736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新增 C2PSA 注意力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2459736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Consolas"/>
                <a:ea typeface="Consolas"/>
                <a:cs typeface="Consolas"/>
              </a:rPr>
              <a:t>block.py:1576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26663"/>
            <a:ext cx="2103120" cy="566928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分類分支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3026663"/>
            <a:ext cx="2743200" cy="566928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標準 Conv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59" y="3026663"/>
            <a:ext cx="3657600" cy="566928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DWConv 深度可分離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3026663"/>
            <a:ext cx="2606040" cy="566928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Consolas"/>
                <a:ea typeface="Consolas"/>
                <a:cs typeface="Consolas"/>
              </a:rPr>
              <a:t>head.py:100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93591"/>
            <a:ext cx="2103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框回歸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3593591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DFL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59" y="3593591"/>
            <a:ext cx="3657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DFL（沿用，配 anchor-free）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3593591"/>
            <a:ext cx="2606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Consolas"/>
                <a:ea typeface="Consolas"/>
                <a:cs typeface="Consolas"/>
              </a:rPr>
              <a:t>block.py:63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160520"/>
            <a:ext cx="2103120" cy="566928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基礎卷積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4160520"/>
            <a:ext cx="2743200" cy="566928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Conv（BN+SiLU）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59" y="4160520"/>
            <a:ext cx="3657600" cy="566928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Conv（相同）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4160520"/>
            <a:ext cx="2606040" cy="566928"/>
          </a:xfrm>
          <a:prstGeom prst="rect">
            <a:avLst/>
          </a:prstGeom>
          <a:solidFill>
            <a:srgbClr val="EEF3F8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2733"/>
                </a:solidFill>
                <a:latin typeface="Consolas"/>
                <a:ea typeface="Consolas"/>
                <a:cs typeface="Consolas"/>
              </a:rPr>
              <a:t>conv.py:41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三大差異一句話總結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C2f → C3k2：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更深、更省算力（CSP 分流 + 殘差 + c3k 控深度）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新增 C2PSA：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在 P5 補一次全域注意力，卷積看不到的長距關係交給它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•  </a:t>
            </a:r>
            <a:r>
              <a:rPr sz="14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分類用 DWConv：</a:t>
            </a:r>
            <a:r>
              <a:rPr sz="140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一層 3×3 從 O(c²·9) 降到 O(c·9 + c²)，這是參數更少的主因之一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loss 的 IoU 與「判斷正確」的 IoU 一樣嗎？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33271"/>
            <a:ext cx="6949440" cy="36576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答案：不一樣。</a:t>
            </a:r>
            <a:r>
              <a:rPr sz="1400" b="0" i="0">
                <a:solidFill>
                  <a:srgbClr val="5A6B7B"/>
                </a:solidFill>
                <a:latin typeface="Microsoft JhengHei"/>
                <a:ea typeface="Microsoft JhengHei"/>
                <a:cs typeface="Microsoft JhengHei"/>
              </a:rPr>
              <a:t>訓練用 CIoU，評估 mAP 與 NMS 用純 IoU。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100584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訓練 CIoU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10928" y="10058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評估 純 IoU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468880" cy="457200"/>
          </a:xfrm>
          <a:prstGeom prst="rect">
            <a:avLst/>
          </a:prstGeom>
          <a:solidFill>
            <a:srgbClr val="0A2540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用途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1572768"/>
            <a:ext cx="1737360" cy="457200"/>
          </a:xfrm>
          <a:prstGeom prst="rect">
            <a:avLst/>
          </a:prstGeom>
          <a:solidFill>
            <a:srgbClr val="0A2540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哪種 IoU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79" y="1572768"/>
            <a:ext cx="2286000" cy="457200"/>
          </a:xfrm>
          <a:prstGeom prst="rect">
            <a:avLst/>
          </a:prstGeom>
          <a:solidFill>
            <a:srgbClr val="0A2540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程式位置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79" y="1572768"/>
            <a:ext cx="4572000" cy="457200"/>
          </a:xfrm>
          <a:prstGeom prst="rect">
            <a:avLst/>
          </a:prstGeom>
          <a:solidFill>
            <a:srgbClr val="0A2540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為什麼選這種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29967"/>
            <a:ext cx="2468880" cy="658368"/>
          </a:xfrm>
          <a:prstGeom prst="rect">
            <a:avLst/>
          </a:prstGeom>
          <a:solidFill>
            <a:srgbClr val="E1EFEA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① 框回歸 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029967"/>
            <a:ext cx="1737360" cy="658368"/>
          </a:xfrm>
          <a:prstGeom prst="rect">
            <a:avLst/>
          </a:prstGeom>
          <a:solidFill>
            <a:srgbClr val="E1EFEA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CIoU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79" y="2029967"/>
            <a:ext cx="2286000" cy="658368"/>
          </a:xfrm>
          <a:prstGeom prst="rect">
            <a:avLst/>
          </a:prstGeom>
          <a:solidFill>
            <a:srgbClr val="E1EFEA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733"/>
                </a:solidFill>
                <a:latin typeface="Consolas"/>
                <a:ea typeface="Consolas"/>
                <a:cs typeface="Consolas"/>
              </a:rPr>
              <a:t>loss.py:189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79" y="2029967"/>
            <a:ext cx="4572000" cy="658368"/>
          </a:xfrm>
          <a:prstGeom prst="rect">
            <a:avLst/>
          </a:prstGeom>
          <a:solidFill>
            <a:srgbClr val="E1EFEA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要可微分；兩框零重疊時仍要有梯度，模型才學得動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88335"/>
            <a:ext cx="2468880" cy="658368"/>
          </a:xfrm>
          <a:prstGeom prst="rect">
            <a:avLst/>
          </a:prstGeom>
          <a:solidFill>
            <a:srgbClr val="E1EFEA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② 正樣本分配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688335"/>
            <a:ext cx="1737360" cy="658368"/>
          </a:xfrm>
          <a:prstGeom prst="rect">
            <a:avLst/>
          </a:prstGeom>
          <a:solidFill>
            <a:srgbClr val="E1EFEA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CIoU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2688335"/>
            <a:ext cx="2286000" cy="658368"/>
          </a:xfrm>
          <a:prstGeom prst="rect">
            <a:avLst/>
          </a:prstGeom>
          <a:solidFill>
            <a:srgbClr val="E1EFEA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733"/>
                </a:solidFill>
                <a:latin typeface="Consolas"/>
                <a:ea typeface="Consolas"/>
                <a:cs typeface="Consolas"/>
              </a:rPr>
              <a:t>tal.py:215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79" y="2688335"/>
            <a:ext cx="4572000" cy="658368"/>
          </a:xfrm>
          <a:prstGeom prst="rect">
            <a:avLst/>
          </a:prstGeom>
          <a:solidFill>
            <a:srgbClr val="E1EFEA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當「框品質」分數，決定哪個 anchor 配哪個 GT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46703"/>
            <a:ext cx="2468880" cy="658368"/>
          </a:xfrm>
          <a:prstGeom prst="rect">
            <a:avLst/>
          </a:prstGeom>
          <a:solidFill>
            <a:srgbClr val="E9EEF5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③ 驗證 / mAP 判定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346703"/>
            <a:ext cx="1737360" cy="658368"/>
          </a:xfrm>
          <a:prstGeom prst="rect">
            <a:avLst/>
          </a:prstGeom>
          <a:solidFill>
            <a:srgbClr val="E9EEF5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純 IoU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79" y="3346703"/>
            <a:ext cx="2286000" cy="658368"/>
          </a:xfrm>
          <a:prstGeom prst="rect">
            <a:avLst/>
          </a:prstGeom>
          <a:solidFill>
            <a:srgbClr val="E9EEF5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733"/>
                </a:solidFill>
                <a:latin typeface="Consolas"/>
                <a:ea typeface="Consolas"/>
                <a:cs typeface="Consolas"/>
              </a:rPr>
              <a:t>metrics.py:454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79" y="3346703"/>
            <a:ext cx="4572000" cy="658368"/>
          </a:xfrm>
          <a:prstGeom prst="rect">
            <a:avLst/>
          </a:prstGeom>
          <a:solidFill>
            <a:srgbClr val="E9EEF5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要公平、標準（COCO 慣例），門檻 0.5–0.95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05072"/>
            <a:ext cx="2468880" cy="658368"/>
          </a:xfrm>
          <a:prstGeom prst="rect">
            <a:avLst/>
          </a:prstGeom>
          <a:solidFill>
            <a:srgbClr val="E9EEF5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④ NMS 去重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4005072"/>
            <a:ext cx="1737360" cy="658368"/>
          </a:xfrm>
          <a:prstGeom prst="rect">
            <a:avLst/>
          </a:prstGeom>
          <a:solidFill>
            <a:srgbClr val="E9EEF5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純 IoU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79" y="4005072"/>
            <a:ext cx="2286000" cy="658368"/>
          </a:xfrm>
          <a:prstGeom prst="rect">
            <a:avLst/>
          </a:prstGeom>
          <a:solidFill>
            <a:srgbClr val="E9EEF5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733"/>
                </a:solidFill>
                <a:latin typeface="Consolas"/>
                <a:ea typeface="Consolas"/>
                <a:cs typeface="Consolas"/>
              </a:rPr>
              <a:t>iou = 0.7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79" y="4005072"/>
            <a:ext cx="4572000" cy="658368"/>
          </a:xfrm>
          <a:prstGeom prst="rect">
            <a:avLst/>
          </a:prstGeom>
          <a:solidFill>
            <a:srgbClr val="E9EEF5"/>
          </a:solidFill>
          <a:ln w="6350">
            <a:solidFill>
              <a:srgbClr val="C9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只需衡量重疊程度，移除重複的框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28032"/>
            <a:ext cx="11064240" cy="155448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C7293"/>
                </a:solidFill>
                <a:latin typeface="Microsoft JhengHei"/>
                <a:ea typeface="Microsoft JhengHei"/>
                <a:cs typeface="Microsoft JhengHei"/>
              </a:rPr>
              <a:t>關鍵差別：為什麼不能混用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純 IoU = 交集 / 聯集</a:t>
            </a:r>
            <a:r>
              <a:rPr sz="13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　兩框沒重疊就 = 0，梯度也 = 0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5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CIoU = IoU − 中心距離懲罰 − 長寬比懲罰</a:t>
            </a:r>
            <a:r>
              <a:rPr sz="13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　零重疊時仍有梯度可學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→ </a:t>
            </a:r>
            <a:r>
              <a:rPr sz="135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loss 一定用 CIoU 家族</a:t>
            </a:r>
            <a:r>
              <a:rPr sz="13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（要梯度）；</a:t>
            </a:r>
            <a:r>
              <a:rPr sz="135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mAP / NMS 一定用純 IoU</a:t>
            </a:r>
            <a:r>
              <a:rPr sz="1350" b="0" i="0">
                <a:solidFill>
                  <a:srgbClr val="1A2733"/>
                </a:solidFill>
                <a:latin typeface="Microsoft JhengHei"/>
                <a:ea typeface="Microsoft JhengHei"/>
                <a:cs typeface="Microsoft JhengHei"/>
              </a:rPr>
              <a:t>（要跟論文公平比較）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設計哲學統整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508760"/>
            <a:ext cx="4572000" cy="19202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算力花在刀口上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6E6F2"/>
                </a:solidFill>
                <a:latin typeface="Microsoft JhengHei"/>
                <a:ea typeface="Microsoft JhengHei"/>
                <a:cs typeface="Microsoft JhengHei"/>
              </a:rPr>
              <a:t>高解析度層 e=0.25 瘦身、注意力只放 20×20、分類分支用 DWConv</a:t>
            </a:r>
          </a:p>
        </p:txBody>
      </p:sp>
      <p:sp>
        <p:nvSpPr>
          <p:cNvPr id="5" name="Oval 4"/>
          <p:cNvSpPr/>
          <p:nvPr/>
        </p:nvSpPr>
        <p:spPr>
          <a:xfrm>
            <a:off x="6263640" y="1554480"/>
            <a:ext cx="640080" cy="6400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508760"/>
            <a:ext cx="4572000" cy="19202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梯度路徑越多越好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6E6F2"/>
                </a:solidFill>
                <a:latin typeface="Microsoft JhengHei"/>
                <a:ea typeface="Microsoft JhengHei"/>
                <a:cs typeface="Microsoft JhengHei"/>
              </a:rPr>
              <a:t>CSP 分流、殘差、FPN/PAN 跨層直連，全在給梯度修高速公路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794760"/>
            <a:ext cx="640080" cy="6400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749040"/>
            <a:ext cx="4572000" cy="19202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預測不確定性而非單點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6E6F2"/>
                </a:solidFill>
                <a:latin typeface="Microsoft JhengHei"/>
                <a:ea typeface="Microsoft JhengHei"/>
                <a:cs typeface="Microsoft JhengHei"/>
              </a:rPr>
              <a:t>DFL 用 16-bin 分佈取代直接回歸，邊界模糊時更穩</a:t>
            </a:r>
          </a:p>
        </p:txBody>
      </p:sp>
      <p:sp>
        <p:nvSpPr>
          <p:cNvPr id="9" name="Oval 8"/>
          <p:cNvSpPr/>
          <p:nvPr/>
        </p:nvSpPr>
        <p:spPr>
          <a:xfrm>
            <a:off x="6263640" y="3794760"/>
            <a:ext cx="640080" cy="6400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400" b="1" i="0">
                <a:solidFill>
                  <a:srgbClr val="0A2540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749040"/>
            <a:ext cx="4572000" cy="192024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EC4B6"/>
                </a:solidFill>
                <a:latin typeface="Microsoft JhengHei"/>
                <a:ea typeface="Microsoft JhengHei"/>
                <a:cs typeface="Microsoft JhengHei"/>
              </a:rPr>
              <a:t>一份結構、五種規模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6E6F2"/>
                </a:solidFill>
                <a:latin typeface="Microsoft JhengHei"/>
                <a:ea typeface="Microsoft JhengHei"/>
                <a:cs typeface="Microsoft JhengHei"/>
              </a:rPr>
              <a:t>depth / width / max_channels 三倍率複合縮放，n→x 共用同一 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9FB3C8"/>
                </a:solidFill>
                <a:latin typeface="Microsoft JhengHei"/>
                <a:ea typeface="Microsoft JhengHei"/>
                <a:cs typeface="Microsoft JhengHei"/>
              </a:rPr>
              <a:t>相較 v8：</a:t>
            </a:r>
            <a:r>
              <a:rPr sz="1300" b="0" i="0">
                <a:solidFill>
                  <a:srgbClr val="9FB3C8"/>
                </a:solidFill>
                <a:latin typeface="Microsoft JhengHei"/>
                <a:ea typeface="Microsoft JhengHei"/>
                <a:cs typeface="Microsoft JhengHei"/>
              </a:rPr>
              <a:t>C2f→C3k2（更深更省）、新增 C2PSA（全域注意力）、分類分支輕量化（DWConv）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